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E0D4"/>
                </a:solidFill>
                <a:latin typeface="Aptos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BankEase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93392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EE8F4"/>
                </a:solidFill>
                <a:latin typeface="Aptos"/>
              </a:rPr>
              <a:t>Full-Stack Digital Banking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EC1D6"/>
                </a:solidFill>
                <a:latin typeface="Aptos"/>
              </a:rPr>
              <a:t>A secure academic banking application integrating customer workflows, administration, REST APIs, authentication and persistent financial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1325880" cy="384048"/>
          </a:xfrm>
          <a:prstGeom prst="round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78224"/>
            <a:ext cx="13258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ANGULAR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1991" y="3977639"/>
            <a:ext cx="1417320" cy="384048"/>
          </a:xfrm>
          <a:prstGeom prst="roundRect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1" y="4078224"/>
            <a:ext cx="1417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SPRING 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3977639"/>
            <a:ext cx="822960" cy="384048"/>
          </a:xfrm>
          <a:prstGeom prst="round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4078224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3977639"/>
            <a:ext cx="960120" cy="384048"/>
          </a:xfrm>
          <a:prstGeom prst="round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4078224"/>
            <a:ext cx="9601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56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Presented by Varun Dixit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66944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6B9CF"/>
                </a:solidFill>
                <a:latin typeface="Aptos"/>
              </a:rPr>
              <a:t>B.Tech • Computer Science &amp; Engineering •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0527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E0D4"/>
                </a:solidFill>
                <a:latin typeface="Aptos"/>
              </a:rPr>
              <a:t>Academic / Demonstration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868680"/>
            <a:ext cx="3520440" cy="5074920"/>
          </a:xfrm>
          <a:prstGeom prst="roundRect">
            <a:avLst/>
          </a:prstGeom>
          <a:solidFill>
            <a:srgbClr val="0F3052"/>
          </a:solidFill>
          <a:ln w="10160">
            <a:solidFill>
              <a:srgbClr val="2B4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18872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4394E0"/>
                </a:solidFill>
                <a:latin typeface="Aptos"/>
              </a:rPr>
              <a:t>BANKEASE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14813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Customer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965960"/>
            <a:ext cx="2880360" cy="932688"/>
          </a:xfrm>
          <a:prstGeom prst="roundRect">
            <a:avLst/>
          </a:prstGeom>
          <a:solidFill>
            <a:srgbClr val="174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148840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9AD5FA"/>
                </a:solidFill>
                <a:latin typeface="Aptos"/>
              </a:rPr>
              <a:t>TOTAL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395728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₹ 1,24,850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3218688"/>
            <a:ext cx="2880360" cy="356616"/>
          </a:xfrm>
          <a:prstGeom prst="roundRect">
            <a:avLst/>
          </a:prstGeom>
          <a:solidFill>
            <a:srgbClr val="14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3310128"/>
            <a:ext cx="155448" cy="155448"/>
          </a:xfrm>
          <a:prstGeom prst="round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3300984"/>
            <a:ext cx="1920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Aptos"/>
              </a:rPr>
              <a:t>Accounts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703320"/>
            <a:ext cx="2880360" cy="356616"/>
          </a:xfrm>
          <a:prstGeom prst="roundRect">
            <a:avLst/>
          </a:prstGeom>
          <a:solidFill>
            <a:srgbClr val="14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794759"/>
            <a:ext cx="155448" cy="155448"/>
          </a:xfrm>
          <a:prstGeom prst="roundRect">
            <a:avLst/>
          </a:prstGeom>
          <a:solidFill>
            <a:srgbClr val="439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3785615"/>
            <a:ext cx="1920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Aptos"/>
              </a:rPr>
              <a:t>Transfers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187952"/>
            <a:ext cx="2880360" cy="356616"/>
          </a:xfrm>
          <a:prstGeom prst="roundRect">
            <a:avLst/>
          </a:prstGeom>
          <a:solidFill>
            <a:srgbClr val="14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5320" y="4279392"/>
            <a:ext cx="155448" cy="155448"/>
          </a:xfrm>
          <a:prstGeom prst="round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4270248"/>
            <a:ext cx="1920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Aptos"/>
              </a:rPr>
              <a:t>Loans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672584"/>
            <a:ext cx="2880360" cy="356616"/>
          </a:xfrm>
          <a:prstGeom prst="roundRect">
            <a:avLst/>
          </a:prstGeom>
          <a:solidFill>
            <a:srgbClr val="14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75320" y="4764024"/>
            <a:ext cx="155448" cy="155448"/>
          </a:xfrm>
          <a:prstGeom prst="round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4754880"/>
            <a:ext cx="1920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Aptos"/>
              </a:rPr>
              <a:t>Investments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5257800"/>
            <a:ext cx="2834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A4BED7"/>
                </a:solidFill>
                <a:latin typeface="Aptos"/>
              </a:rPr>
              <a:t>SECURE • MODULAR • API-DRIVEN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3D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ED2E8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4394E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04078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01 • 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Why BankEase?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A single platform connects the customer journey, banking operations and secure data management.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516636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91640"/>
            <a:ext cx="50292" cy="342900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37944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C38"/>
                </a:solidFill>
                <a:latin typeface="Aptos"/>
              </a:rP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40280"/>
            <a:ext cx="4800600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F2937"/>
                </a:solidFill>
                <a:latin typeface="Aptos"/>
              </a:rPr>
              <a:t>• Banking functions can be fragmented across separate workflows.
• Sensitive operations require authentication and authorization.
• Financial actions need consistent validation and business rules.
• Records must be stored reliably for later retrieval.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691640"/>
            <a:ext cx="685800" cy="3429000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907792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040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691640"/>
            <a:ext cx="466344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691640"/>
            <a:ext cx="50292" cy="342900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1837944"/>
            <a:ext cx="42976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71C38"/>
                </a:solidFill>
                <a:latin typeface="Aptos"/>
              </a:rPr>
              <a:t>THE BANKEASE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240280"/>
            <a:ext cx="4297679" cy="2770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1F2937"/>
                </a:solidFill>
                <a:latin typeface="Aptos"/>
              </a:rPr>
              <a:t>• One web application for customer and admin workflows.
• Angular frontend for a responsive user experience.
• Spring Boot REST APIs for business logic.
• JWT + role-based access for protected operations.
• MySQL with JPA/Hibernate for persistence.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13248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04078"/>
                </a:solidFill>
                <a:latin typeface="Aptos"/>
              </a:rPr>
              <a:t>ONE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230368"/>
            <a:ext cx="2057400" cy="50292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5230368"/>
            <a:ext cx="41148" cy="50292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1952" y="5385816"/>
            <a:ext cx="187451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Aptos"/>
              </a:rPr>
              <a:t>AUTHENTICATE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230368"/>
            <a:ext cx="2057400" cy="50292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5230368"/>
            <a:ext cx="41148" cy="50292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5385816"/>
            <a:ext cx="187451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Aptos"/>
              </a:rPr>
              <a:t>OPERATE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5230368"/>
            <a:ext cx="2057400" cy="50292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5230368"/>
            <a:ext cx="41148" cy="50292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5385816"/>
            <a:ext cx="187451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Aptos"/>
              </a:rPr>
              <a:t>VALIDATE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5230368"/>
            <a:ext cx="2057400" cy="50292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5230368"/>
            <a:ext cx="41148" cy="502920"/>
          </a:xfrm>
          <a:prstGeom prst="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5385816"/>
            <a:ext cx="1874519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Aptos"/>
              </a:rPr>
              <a:t>PERSIST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04EAA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02 •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What BankEase provides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The system is organized around customer banking services and administrator controls.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50292" cy="155448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10512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12848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Registration, login, JWT-based sessions, BCrypt password hashing.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64208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664208"/>
            <a:ext cx="50292" cy="155448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810512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212848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Account creation/viewing and banking account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64208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64208"/>
            <a:ext cx="50292" cy="1554480"/>
          </a:xfrm>
          <a:prstGeom prst="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810512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Beneficiaries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212848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Create and manage beneficiaries for transfer workflows.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64208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664208"/>
            <a:ext cx="50292" cy="1554480"/>
          </a:xfrm>
          <a:prstGeom prst="rect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810512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Transfers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212848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Validated fund-transfer requests and transfer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02736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602736"/>
            <a:ext cx="50292" cy="1554480"/>
          </a:xfrm>
          <a:prstGeom prst="rect">
            <a:avLst/>
          </a:prstGeom>
          <a:solidFill>
            <a:srgbClr val="06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749040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Bill Payments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151376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Submit bill-payment requests and view records.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02736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3602736"/>
            <a:ext cx="50292" cy="15544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3749040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Loans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4151376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Loan application, status tracking and admin decision workflow.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02736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602736"/>
            <a:ext cx="50292" cy="1554480"/>
          </a:xfrm>
          <a:prstGeom prst="rect">
            <a:avLst/>
          </a:prstGeom>
          <a:solidFill>
            <a:srgbClr val="C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3749040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Investments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4151376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Investment products, investing and redemption request.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602736"/>
            <a:ext cx="2487168" cy="15544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3602736"/>
            <a:ext cx="50292" cy="155448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3749040"/>
            <a:ext cx="21214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Admin Center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151376"/>
            <a:ext cx="21214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User management, KYC status, access control and pending loans.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742432"/>
            <a:ext cx="10515600" cy="393192"/>
          </a:xfrm>
          <a:prstGeom prst="roundRect">
            <a:avLst/>
          </a:prstGeom>
          <a:solidFill>
            <a:srgbClr val="07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843016"/>
            <a:ext cx="102412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CUSTOMER  →  AUTHENTICATION  →  BANKING SERVICES  →  ADMINISTRATION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F9D91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03 •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End-to-end BankEase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A clear presentation story: authenticate first, perform banking actions, then show administration.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" y="2011680"/>
            <a:ext cx="365760" cy="365760"/>
          </a:xfrm>
          <a:prstGeom prst="ellipse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Register /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Create account
Authenticate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2075688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13432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59736" y="2011680"/>
            <a:ext cx="365760" cy="365760"/>
          </a:xfrm>
          <a:prstGeom prst="ellipse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9736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9736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Overview
Quick actions</a:t>
            </a:r>
          </a:p>
        </p:txBody>
      </p:sp>
      <p:sp>
        <p:nvSpPr>
          <p:cNvPr id="21" name="Chevron 20"/>
          <p:cNvSpPr/>
          <p:nvPr/>
        </p:nvSpPr>
        <p:spPr>
          <a:xfrm>
            <a:off x="3977640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15384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61688" y="2011680"/>
            <a:ext cx="365760" cy="365760"/>
          </a:xfrm>
          <a:prstGeom prst="ellipse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View account
Balance/details</a:t>
            </a:r>
          </a:p>
        </p:txBody>
      </p:sp>
      <p:sp>
        <p:nvSpPr>
          <p:cNvPr id="27" name="Chevron 26"/>
          <p:cNvSpPr/>
          <p:nvPr/>
        </p:nvSpPr>
        <p:spPr>
          <a:xfrm>
            <a:off x="5879592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17336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63640" y="2011680"/>
            <a:ext cx="365760" cy="365760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Beneficiary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Add/manage
recipient</a:t>
            </a:r>
          </a:p>
        </p:txBody>
      </p:sp>
      <p:sp>
        <p:nvSpPr>
          <p:cNvPr id="33" name="Chevron 32"/>
          <p:cNvSpPr/>
          <p:nvPr/>
        </p:nvSpPr>
        <p:spPr>
          <a:xfrm>
            <a:off x="7781544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19288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65592" y="2011680"/>
            <a:ext cx="365760" cy="365760"/>
          </a:xfrm>
          <a:prstGeom prst="ellipse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Transfer / Bills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Execute banking
operation</a:t>
            </a:r>
          </a:p>
        </p:txBody>
      </p:sp>
      <p:sp>
        <p:nvSpPr>
          <p:cNvPr id="39" name="Chevron 38"/>
          <p:cNvSpPr/>
          <p:nvPr/>
        </p:nvSpPr>
        <p:spPr>
          <a:xfrm>
            <a:off x="9683496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21240" y="1847088"/>
            <a:ext cx="162763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67544" y="2011680"/>
            <a:ext cx="365760" cy="365760"/>
          </a:xfrm>
          <a:prstGeom prst="ellipse">
            <a:avLst/>
          </a:prstGeom>
          <a:solidFill>
            <a:srgbClr val="C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67544" y="2093976"/>
            <a:ext cx="365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2523744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71C38"/>
                </a:solidFill>
                <a:latin typeface="Aptos"/>
              </a:rPr>
              <a:t>Loans / Investments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67544" y="305409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A"/>
                </a:solidFill>
                <a:latin typeface="Aptos"/>
              </a:rPr>
              <a:t>Financial product
workflow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224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4078"/>
                </a:solidFill>
                <a:latin typeface="Aptos"/>
              </a:rPr>
              <a:t>WHAT HAPPENS BEHIND EACH ACTION?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617720"/>
            <a:ext cx="1874519" cy="59436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617720"/>
            <a:ext cx="41148" cy="59436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4818888"/>
            <a:ext cx="17190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Aptos"/>
              </a:rPr>
              <a:t>Angular UI</a:t>
            </a:r>
          </a:p>
        </p:txBody>
      </p:sp>
      <p:sp>
        <p:nvSpPr>
          <p:cNvPr id="49" name="Chevron 48"/>
          <p:cNvSpPr/>
          <p:nvPr/>
        </p:nvSpPr>
        <p:spPr>
          <a:xfrm>
            <a:off x="2542032" y="4782312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834640" y="4617720"/>
            <a:ext cx="1874519" cy="59436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34640" y="4617720"/>
            <a:ext cx="41148" cy="59436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07792" y="4818888"/>
            <a:ext cx="17190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Aptos"/>
              </a:rPr>
              <a:t>REST API</a:t>
            </a:r>
          </a:p>
        </p:txBody>
      </p:sp>
      <p:sp>
        <p:nvSpPr>
          <p:cNvPr id="53" name="Chevron 52"/>
          <p:cNvSpPr/>
          <p:nvPr/>
        </p:nvSpPr>
        <p:spPr>
          <a:xfrm>
            <a:off x="4782312" y="4782312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74920" y="4617720"/>
            <a:ext cx="1874519" cy="59436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74920" y="4617720"/>
            <a:ext cx="41148" cy="59436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48072" y="4818888"/>
            <a:ext cx="17190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Aptos"/>
              </a:rPr>
              <a:t>Validation</a:t>
            </a:r>
          </a:p>
        </p:txBody>
      </p:sp>
      <p:sp>
        <p:nvSpPr>
          <p:cNvPr id="57" name="Chevron 56"/>
          <p:cNvSpPr/>
          <p:nvPr/>
        </p:nvSpPr>
        <p:spPr>
          <a:xfrm>
            <a:off x="7022592" y="4782312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315200" y="4617720"/>
            <a:ext cx="1874519" cy="59436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00" y="4617720"/>
            <a:ext cx="41148" cy="594360"/>
          </a:xfrm>
          <a:prstGeom prst="rect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2" y="4818888"/>
            <a:ext cx="17190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Aptos"/>
              </a:rPr>
              <a:t>Service Logic</a:t>
            </a:r>
          </a:p>
        </p:txBody>
      </p:sp>
      <p:sp>
        <p:nvSpPr>
          <p:cNvPr id="61" name="Chevron 60"/>
          <p:cNvSpPr/>
          <p:nvPr/>
        </p:nvSpPr>
        <p:spPr>
          <a:xfrm>
            <a:off x="9262872" y="4782312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555480" y="4617720"/>
            <a:ext cx="1874519" cy="594360"/>
          </a:xfrm>
          <a:prstGeom prst="roundRect">
            <a:avLst/>
          </a:prstGeom>
          <a:solidFill>
            <a:srgbClr val="F3F6F9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55480" y="4617720"/>
            <a:ext cx="41148" cy="594360"/>
          </a:xfrm>
          <a:prstGeom prst="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28632" y="4818888"/>
            <a:ext cx="17190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F2937"/>
                </a:solidFill>
                <a:latin typeface="Aptos"/>
              </a:rPr>
              <a:t>JPA / MySQL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57400" y="5559552"/>
            <a:ext cx="8092440" cy="47548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4560" y="5687568"/>
            <a:ext cx="78181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04078"/>
                </a:solidFill>
                <a:latin typeface="Aptos"/>
              </a:rPr>
              <a:t>ADMIN CENTER  →  USERS • KYC • ACCESS • LOAN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04078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04 •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How the technology fits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The application follows a layered architecture with clear separation between UI, API, business logic and persistence.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874519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2011680"/>
            <a:ext cx="438912" cy="438912"/>
          </a:xfrm>
          <a:prstGeom prst="round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130552"/>
            <a:ext cx="43891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029968"/>
            <a:ext cx="987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71C38"/>
                </a:solidFill>
                <a:latin typeface="Aptos"/>
              </a:rPr>
              <a:t>Angular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B697A"/>
                </a:solidFill>
                <a:latin typeface="Aptos"/>
              </a:rPr>
              <a:t>UI • Router • HttpClient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2468880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39" y="1828800"/>
            <a:ext cx="1874519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99232" y="2011680"/>
            <a:ext cx="438912" cy="438912"/>
          </a:xfrm>
          <a:prstGeom prst="round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130552"/>
            <a:ext cx="43891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029968"/>
            <a:ext cx="987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71C38"/>
                </a:solidFill>
                <a:latin typeface="Aptos"/>
              </a:rPr>
              <a:t>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72491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B697A"/>
                </a:solidFill>
                <a:latin typeface="Aptos"/>
              </a:rPr>
              <a:t>HTTP / JSON • /api/*</a:t>
            </a:r>
          </a:p>
        </p:txBody>
      </p:sp>
      <p:sp>
        <p:nvSpPr>
          <p:cNvPr id="21" name="Chevron 20"/>
          <p:cNvSpPr/>
          <p:nvPr/>
        </p:nvSpPr>
        <p:spPr>
          <a:xfrm>
            <a:off x="4800600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66359" y="1828800"/>
            <a:ext cx="1874519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30951" y="2011680"/>
            <a:ext cx="438912" cy="438912"/>
          </a:xfrm>
          <a:prstGeom prst="round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0951" y="2130552"/>
            <a:ext cx="43891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2029968"/>
            <a:ext cx="987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71C38"/>
                </a:solidFill>
                <a:latin typeface="Aptos"/>
              </a:rPr>
              <a:t>Spring 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2491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B697A"/>
                </a:solidFill>
                <a:latin typeface="Aptos"/>
              </a:rPr>
              <a:t>Controllers • Services</a:t>
            </a:r>
          </a:p>
        </p:txBody>
      </p:sp>
      <p:sp>
        <p:nvSpPr>
          <p:cNvPr id="27" name="Chevron 26"/>
          <p:cNvSpPr/>
          <p:nvPr/>
        </p:nvSpPr>
        <p:spPr>
          <a:xfrm>
            <a:off x="7132319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79" y="1828800"/>
            <a:ext cx="1874519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62671" y="2011680"/>
            <a:ext cx="438912" cy="438912"/>
          </a:xfrm>
          <a:prstGeom prst="round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2130552"/>
            <a:ext cx="43891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2029968"/>
            <a:ext cx="987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71C38"/>
                </a:solidFill>
                <a:latin typeface="Aptos"/>
              </a:rPr>
              <a:t>JPA / Hibernate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9" y="272491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B697A"/>
                </a:solidFill>
                <a:latin typeface="Aptos"/>
              </a:rPr>
              <a:t>Repositories • Entities</a:t>
            </a:r>
          </a:p>
        </p:txBody>
      </p:sp>
      <p:sp>
        <p:nvSpPr>
          <p:cNvPr id="33" name="Chevron 32"/>
          <p:cNvSpPr/>
          <p:nvPr/>
        </p:nvSpPr>
        <p:spPr>
          <a:xfrm>
            <a:off x="9464040" y="2624328"/>
            <a:ext cx="256032" cy="292608"/>
          </a:xfrm>
          <a:prstGeom prst="chevron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29800" y="1828800"/>
            <a:ext cx="1874519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94392" y="2011680"/>
            <a:ext cx="438912" cy="438912"/>
          </a:xfrm>
          <a:prstGeom prst="roundRect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2" y="2130552"/>
            <a:ext cx="43891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2029968"/>
            <a:ext cx="9875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71C38"/>
                </a:solidFill>
                <a:latin typeface="Aptos"/>
              </a:rPr>
              <a:t>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72491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B697A"/>
                </a:solidFill>
                <a:latin typeface="Aptos"/>
              </a:rPr>
              <a:t>Persistent banking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251960"/>
            <a:ext cx="10332720" cy="105156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251960"/>
            <a:ext cx="50292" cy="105156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" y="4398264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CROSS-CUTTING 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4800600"/>
            <a:ext cx="9966960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Spring Security  •  JWT authentication  •  BCrypt hashing  •  USER / ADMIN roles  •  Bean Validation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5650992"/>
            <a:ext cx="2331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5779007"/>
            <a:ext cx="2002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97A"/>
                </a:solidFill>
                <a:latin typeface="Aptos"/>
              </a:rPr>
              <a:t>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6016752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9D91"/>
                </a:solidFill>
                <a:latin typeface="Aptos"/>
              </a:rPr>
              <a:t>4200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9000" y="5650992"/>
            <a:ext cx="2331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3592" y="5779007"/>
            <a:ext cx="2002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97A"/>
                </a:solidFill>
                <a:latin typeface="Aptos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3592" y="6016752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04078"/>
                </a:solidFill>
                <a:latin typeface="Aptos"/>
              </a:rPr>
              <a:t>8080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5650992"/>
            <a:ext cx="2331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1" y="5779007"/>
            <a:ext cx="2002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97A"/>
                </a:solidFill>
                <a:latin typeface="Aptos"/>
              </a:rPr>
              <a:t>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1" y="6016752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9D58"/>
                </a:solidFill>
                <a:latin typeface="Aptos"/>
              </a:rPr>
              <a:t>bankease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5650992"/>
            <a:ext cx="2331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05672" y="5779007"/>
            <a:ext cx="2002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97A"/>
                </a:solidFill>
                <a:latin typeface="Aptos"/>
              </a:rPr>
              <a:t>API STYLE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5672" y="6016752"/>
            <a:ext cx="20025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4EAA"/>
                </a:solidFill>
                <a:latin typeface="Aptos"/>
              </a:rPr>
              <a:t>REST /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06F1E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05 • SECURITY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Protected request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This is the technical flow to explain during viva: request → security → validation → business logic →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00784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883664"/>
            <a:ext cx="347472" cy="347472"/>
          </a:xfrm>
          <a:prstGeom prst="ellipse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20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6771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Credentials → Auth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700784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1883664"/>
            <a:ext cx="347472" cy="347472"/>
          </a:xfrm>
          <a:prstGeom prst="ellipse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65960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874520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26771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Token returned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700784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5320" y="1883664"/>
            <a:ext cx="347472" cy="347472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965960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874520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6771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JWT sent with API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48456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831336"/>
            <a:ext cx="347472" cy="347472"/>
          </a:xfrm>
          <a:prstGeom prst="ellipse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1363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822192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215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Spring Security validates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648456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60" y="3831336"/>
            <a:ext cx="347472" cy="347472"/>
          </a:xfrm>
          <a:prstGeom prst="ellipse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91363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822192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215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Rules + validation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648456"/>
            <a:ext cx="3310128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20" y="3831336"/>
            <a:ext cx="347472" cy="347472"/>
          </a:xfrm>
          <a:prstGeom prst="ellipse">
            <a:avLst/>
          </a:prstGeom>
          <a:solidFill>
            <a:srgbClr val="06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913632"/>
            <a:ext cx="34747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822192"/>
            <a:ext cx="22402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71C38"/>
                </a:solidFill>
                <a:latin typeface="Aptos"/>
              </a:rPr>
              <a:t>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215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97A"/>
                </a:solidFill>
                <a:latin typeface="Aptos"/>
              </a:rPr>
              <a:t>JPA → MySQL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577840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04078"/>
                </a:solidFill>
                <a:latin typeface="Aptos"/>
              </a:rPr>
              <a:t>KEY API AREAS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/api/auth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41448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41448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/api/accounts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88536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/api/transfers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5624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/api/loans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82712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2712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/api/investments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29800" y="5833872"/>
            <a:ext cx="1600200" cy="384048"/>
          </a:xfrm>
          <a:prstGeom prst="round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5943600"/>
            <a:ext cx="16002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104078"/>
                </a:solidFill>
                <a:latin typeface="Aptos"/>
              </a:rPr>
              <a:t>/api/admin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79D58"/>
                </a:solidFill>
                <a:latin typeface="Aptos"/>
              </a:rPr>
              <a:t>BANKEASE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01168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697A"/>
                </a:solidFill>
                <a:latin typeface="Aptos"/>
              </a:rPr>
              <a:t>06 • TECHNOLOGY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71C38"/>
                </a:solidFill>
                <a:latin typeface="Aptos"/>
              </a:rPr>
              <a:t>Technology stack and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155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97A"/>
                </a:solidFill>
                <a:latin typeface="Aptos"/>
              </a:rPr>
              <a:t>Tools were selected to support a complete full-stack implementation with secure APIs and relational persistence.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97A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04078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2743200" cy="36118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50292" cy="3611880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1051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12848"/>
            <a:ext cx="237744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Angular 20
TypeScript
Angular Router
HttpClient
JWT interceptor / guards
Responsive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64208"/>
            <a:ext cx="2743200" cy="36118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64208"/>
            <a:ext cx="50292" cy="3611880"/>
          </a:xfrm>
          <a:prstGeom prst="rect">
            <a:avLst/>
          </a:prstGeom>
          <a:solidFill>
            <a:srgbClr val="10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81051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212848"/>
            <a:ext cx="237744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Java
Spring Boot 4.1.0
REST APIs
Spring Security
Spring Data JPA
Hibernate
Bean Validation
Lombok / Maven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664208"/>
            <a:ext cx="2743200" cy="36118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664208"/>
            <a:ext cx="50292" cy="3611880"/>
          </a:xfrm>
          <a:prstGeom prst="rect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3" y="181051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2212848"/>
            <a:ext cx="237744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MySQL
JPA entity mapping
Repositories
Persistent banking data
Users • Accounts
Transfers • Loans
Investments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664208"/>
            <a:ext cx="2468880" cy="3611880"/>
          </a:xfrm>
          <a:prstGeom prst="roundRect">
            <a:avLst/>
          </a:prstGeom>
          <a:solidFill>
            <a:srgbClr val="112B49"/>
          </a:solidFill>
          <a:ln w="10160">
            <a:solidFill>
              <a:srgbClr val="2C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664208"/>
            <a:ext cx="50292" cy="3611880"/>
          </a:xfrm>
          <a:prstGeom prst="rect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181051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212848"/>
            <a:ext cx="2103120" cy="2953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BECDDD"/>
                </a:solidFill>
                <a:latin typeface="Aptos"/>
              </a:rPr>
              <a:t>JWT
BCrypt
USER / ADMIN roles
Protected endpoints
Validation
CORS configuration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96128"/>
            <a:ext cx="10652760" cy="530352"/>
          </a:xfrm>
          <a:prstGeom prst="roundRect">
            <a:avLst/>
          </a:prstGeom>
          <a:solidFill>
            <a:srgbClr val="07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742432"/>
            <a:ext cx="10287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Angular  →  REST API  →  Controller  →  Service  →  Repository  →  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E0D4"/>
                </a:solidFill>
                <a:latin typeface="Aptos"/>
              </a:rPr>
              <a:t>07 • DEMO +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Demonstration Flow &amp; 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EC1D6"/>
                </a:solidFill>
                <a:latin typeface="Aptos"/>
              </a:rPr>
              <a:t>End with a short, logical live demo and close with what the project demonstrates.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384048" cy="384048"/>
          </a:xfrm>
          <a:prstGeom prst="ellipse">
            <a:avLst/>
          </a:prstGeom>
          <a:solidFill>
            <a:srgbClr val="0F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066543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Register /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984248"/>
            <a:ext cx="384048" cy="384048"/>
          </a:xfrm>
          <a:prstGeom prst="ellipse">
            <a:avLst/>
          </a:prstGeom>
          <a:solidFill>
            <a:srgbClr val="439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066543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78308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984248"/>
            <a:ext cx="384048" cy="384048"/>
          </a:xfrm>
          <a:prstGeom prst="ellipse">
            <a:avLst/>
          </a:prstGeom>
          <a:solidFill>
            <a:srgbClr val="27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066543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Account + Beneficiary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0896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310128"/>
            <a:ext cx="384048" cy="384048"/>
          </a:xfrm>
          <a:prstGeom prst="ellipse">
            <a:avLst/>
          </a:prstGeom>
          <a:solidFill>
            <a:srgbClr val="E06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0156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392424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Transfer / Bills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0896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3310128"/>
            <a:ext cx="384048" cy="384048"/>
          </a:xfrm>
          <a:prstGeom prst="ellipse">
            <a:avLst/>
          </a:prstGeom>
          <a:solidFill>
            <a:srgbClr val="70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0156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392424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Loan / Investment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108960"/>
            <a:ext cx="3337560" cy="960120"/>
          </a:xfrm>
          <a:prstGeom prst="roundRect">
            <a:avLst/>
          </a:prstGeom>
          <a:solidFill>
            <a:srgbClr val="10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66760" y="3310128"/>
            <a:ext cx="384048" cy="384048"/>
          </a:xfrm>
          <a:prstGeom prst="ellipse">
            <a:avLst/>
          </a:prstGeom>
          <a:solidFill>
            <a:srgbClr val="C4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401568"/>
            <a:ext cx="38404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392424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Admin Center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645152"/>
            <a:ext cx="6400800" cy="1188720"/>
          </a:xfrm>
          <a:prstGeom prst="roundRect">
            <a:avLst/>
          </a:prstGeom>
          <a:solidFill>
            <a:srgbClr val="11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9E0D4"/>
                </a:solidFill>
                <a:latin typeface="Aptos"/>
              </a:rPr>
              <a:t>PROJECT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38928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Integrated customer + administrator banking workflows with secure APIs and persistent data.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4645152"/>
            <a:ext cx="4343400" cy="1188720"/>
          </a:xfrm>
          <a:prstGeom prst="roundRect">
            <a:avLst/>
          </a:prstGeom>
          <a:solidFill>
            <a:srgbClr val="113050"/>
          </a:solidFill>
          <a:ln w="10160">
            <a:solidFill>
              <a:srgbClr val="2C4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4846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94E0"/>
                </a:solidFill>
                <a:latin typeface="Aptos"/>
              </a:rPr>
              <a:t>FUTURE 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138928"/>
            <a:ext cx="3794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Expanded audit/transaction monitoring and production-grade integrations.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6080760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9E0D4"/>
                </a:solidFill>
                <a:latin typeface="Aptos"/>
              </a:rPr>
              <a:t>THANK YOU  •  QUESTIONS &amp; LIVE DEMONSTRATION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37376"/>
            <a:ext cx="10972800" cy="10972"/>
          </a:xfrm>
          <a:prstGeom prst="rect">
            <a:avLst/>
          </a:prstGeom>
          <a:solidFill>
            <a:srgbClr val="3D5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ED2E8"/>
                </a:solidFill>
                <a:latin typeface="Aptos"/>
              </a:rPr>
              <a:t>BankEase  •  Full-Stack Digital Banking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4394E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